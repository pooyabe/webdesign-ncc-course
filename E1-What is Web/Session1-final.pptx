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تفاوت اینترنت و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اینترنت و وب؛ دو مفهوم مرتبط، اما متفاوت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چرا در گفت‌وگوی روزمره این دو را به‌جای هم به کار می‌بریم؟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57400"/>
            <a:ext cx="4800600" cy="23317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28248" y="2221992"/>
            <a:ext cx="32004" cy="20025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194560"/>
            <a:ext cx="44531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2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79192"/>
            <a:ext cx="4416552" cy="1581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زیرساخت ارتباطیِ شبکه‌های به‌هم‌پیوسته
کابل‌ها، روترها، مراکز داده و مسیرهای انتقال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057400"/>
            <a:ext cx="4800600" cy="23317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68" y="2221992"/>
            <a:ext cx="32004" cy="200253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194560"/>
            <a:ext cx="44531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2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 (World Wide Web)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79192"/>
            <a:ext cx="4416552" cy="1581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سامانه‌ای برای دسترسی به منابع پیوندخورده
صفحه‌ها، تصویرها، ویدئوها و فایل‌ها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841248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0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اینترنت بستر است؛ وب یکی از سرویس‌هایی است که روی آن کار می‌کند.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تفاوت اینترنت و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یک تشبیه ساده: جاده و وسیله نقلیه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زیرساخت را با سرویسی که از آن استفاده می‌کند اشتباه نگیریم.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011680"/>
            <a:ext cx="4572000" cy="24231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45368" y="2176272"/>
            <a:ext cx="32004" cy="209397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4884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جاده‌ها = اینترنت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33472"/>
            <a:ext cx="4187952" cy="16733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زیرساختی که امکان رفت‌وآمد را فراهم می‌کند
مسیرها و راه‌های ارتباطی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011680"/>
            <a:ext cx="4572000" cy="24231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41848" y="2176272"/>
            <a:ext cx="32004" cy="209397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214884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وسایل نقلیه = سرویس‌ها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33472"/>
            <a:ext cx="4187952" cy="16733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وب، ایمیل، تماس صوتی، بازی آنلاین و انتقال فایل
هرکدام نوعی استفاده از زیرساخت‌اند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841248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اگر وب را کنار بگذاریم، خود اینترنت همچنان می‌تواند برای سرویس‌های دیگر کار کند.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تاریخچه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 از یک نیاز ساده شروع شد: پیوند دادن اسناد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پیشنهاد تیم برنرز-لی در CERN، سال ۱۹۸۹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148840"/>
            <a:ext cx="3246120" cy="2103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94007" y="2313432"/>
            <a:ext cx="32004" cy="17739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28600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۱۹۸۹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2770632"/>
            <a:ext cx="2862072" cy="13533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پیشنهاد سامانه‌ای برای مدیریت و اشتراک اطلاعات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246120" cy="2103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16368" y="2313432"/>
            <a:ext cx="32004" cy="177393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28600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۱۹۹۱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70632"/>
            <a:ext cx="2862072" cy="13533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دسترس قرار گرفتن نخستین وب‌سایت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48840"/>
            <a:ext cx="3246120" cy="2103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21607" y="2313432"/>
            <a:ext cx="32004" cy="1773936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28600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۱۹۹۳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70632"/>
            <a:ext cx="2862072" cy="13533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آزادسازی فناوری وب از سوی CERN بدون حق امتیاز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069080" y="4663440"/>
            <a:ext cx="397764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14400" y="4663440"/>
            <a:ext cx="315468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 ساختار صفحه را مشخص کرد؛ URL منابع را نشانی‌دهی کرد؛ HTTP درخواست و دریافت را ممکن کرد.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دموی زنده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اولین وب‌سایت تاریخ را ببینیم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نشانی: info.cern.ch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4846320" cy="3108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8" y="1993392"/>
            <a:ext cx="32004" cy="277977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965960"/>
            <a:ext cx="44988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2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ظاهر ساده، ایده‌ای بزرگ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50592"/>
            <a:ext cx="4462272" cy="23591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نه تصویرهای بزرگ و انیمیشن‌های امروزی؛
نه منوهای پیچیده.
نوآوری اصلی: امکان پیوند دادن اطلاعات به یکدیگر.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4800600" cy="3108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057400"/>
            <a:ext cx="4343400" cy="347472"/>
          </a:xfrm>
          <a:prstGeom prst="roundRect">
            <a:avLst/>
          </a:prstGeom>
          <a:solidFill>
            <a:srgbClr val="1F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" y="2157984"/>
            <a:ext cx="91440" cy="91440"/>
          </a:xfrm>
          <a:prstGeom prst="ellipse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5608" y="2157984"/>
            <a:ext cx="91440" cy="91440"/>
          </a:xfrm>
          <a:prstGeom prst="ellipse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36776" y="2157984"/>
            <a:ext cx="91440" cy="91440"/>
          </a:xfrm>
          <a:prstGeom prst="ellipse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651760"/>
            <a:ext cx="393192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2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The World Wide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46120"/>
            <a:ext cx="3749039" cy="10058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اطلاعاتی درباره وب و پیوندهایی به اسناد دیگر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343400"/>
            <a:ext cx="2743200" cy="384048"/>
          </a:xfrm>
          <a:prstGeom prst="roundRect">
            <a:avLst/>
          </a:prstGeom>
          <a:solidFill>
            <a:srgbClr val="1F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4361688"/>
            <a:ext cx="265176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info.cern.ch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نسل‌های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1.0، Web 2.0 و Web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این‌ها نسخه‌های رسمی یک نرم‌افزار نیستند؛ توصیفی از روندهای غالب‌اند.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240280"/>
            <a:ext cx="324612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514600"/>
            <a:ext cx="297180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4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3246120"/>
            <a:ext cx="288036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خواندن و دریافت اطلاعات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24612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297180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4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88036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مشارکت و تولید محتوا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40280"/>
            <a:ext cx="324612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297180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4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88036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برداشت‌های متنوع از آینده وب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9966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مرز زمانی دقیق و مورد توافقی میان این دوره‌ها وجود ندارد.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نسل‌های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1.0؛ وبی که بیشتر برای خواندن بود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تصویر کلی: وب‌سایت‌هایی شبیه بروشور یا مجله دیجیتال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011680"/>
            <a:ext cx="466344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6807" y="2176272"/>
            <a:ext cx="32004" cy="22311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4884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صاحب سایت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33472"/>
            <a:ext cx="427939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محتوا را تولید و منتشر می‌کند
انتشار بیشتر در اختیار مدیر سایت است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011680"/>
            <a:ext cx="466344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41848" y="2176272"/>
            <a:ext cx="32004" cy="223113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214884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بازدیدکننده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2633472"/>
            <a:ext cx="427939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وارد سایت می‌شود و محتوا را می‌خواند
فرم‌های ساده هم می‌توانند وجود داشته باشند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486400" y="3291840"/>
            <a:ext cx="59436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80160" y="4983480"/>
            <a:ext cx="960120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تعامل کاملاً غایب نبود؛ اما نقش غالب کاربر، دریافت‌کننده محتوا بود.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نسل‌های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2.0؛ کاربران هم تولیدکننده محتوا شدند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از مخاطبِ صرف به مشارکت‌کننده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057400"/>
            <a:ext cx="3291840" cy="10515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31167" y="2221992"/>
            <a:ext cx="32004" cy="722375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194560"/>
            <a:ext cx="29443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وبلاگ‌ها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999" y="2057400"/>
            <a:ext cx="3291840" cy="10515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0688" y="2221992"/>
            <a:ext cx="32004" cy="722375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1" y="2194560"/>
            <a:ext cx="29443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شبکه‌های اجتماعی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474720"/>
            <a:ext cx="3291840" cy="10515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31167" y="3639312"/>
            <a:ext cx="32004" cy="722375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3611879"/>
            <a:ext cx="29443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اشتراک عکس و ویدئو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999" y="3474720"/>
            <a:ext cx="3291840" cy="10515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90688" y="3639312"/>
            <a:ext cx="32004" cy="722375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1" y="3611879"/>
            <a:ext cx="29443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نظر و همکاری گروهی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66360"/>
            <a:ext cx="996696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کاربر فقط تماشاگر نیست؛ می‌تواند محتوا منتشر کند، نظر بدهد و همکاری کند.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نسل‌های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3.0؛ اصطلاحی با چند برداشت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بهتر است آن را در یک تعریف قطعی و نهایی محدود نکنیم.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73968" y="1993392"/>
            <a:ext cx="32004" cy="163677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965960"/>
            <a:ext cx="28529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 معنایی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50592"/>
            <a:ext cx="2816352" cy="12161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داده‌هایی با ساختار و معنا که ماشین‌ها بتوانند ارتباطشان را بهتر درک کنند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1993392"/>
            <a:ext cx="32004" cy="163677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8529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 غیرمتمرکز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50592"/>
            <a:ext cx="2816352" cy="12161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بلاک‌چین و ایده مالکیت توزیع‌شده داده‌ها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828800"/>
            <a:ext cx="3200400" cy="19659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1993392"/>
            <a:ext cx="32004" cy="1636776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1965960"/>
            <a:ext cx="28529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روندهای نو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50592"/>
            <a:ext cx="2816352" cy="12161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هوش مصنوعی و عامل‌های هوشمند در بحث آینده وب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241280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جمع‌بندی: از وبِ خواندنی، به وبِ مشارکتی؛ و تلاش برای وبی هوشمندتر و گاهی غیرمتمرکزتر.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سؤال بعدی: وقتی آدرس یک سایت را وارد می‌کنیم، پشت صحنه چه رخ می‌دهد؟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پشت صحنه یک کلیک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وقتی آدرس سایت را وارد می‌کنیم، چه اتفاقی می‌افتد؟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مثال: digikala.com را در مرورگر وارد می‌کنیم و Enter می‌زنیم.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2331720"/>
            <a:ext cx="713232" cy="713232"/>
          </a:xfrm>
          <a:prstGeom prst="ellipse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2414016"/>
            <a:ext cx="713232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0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3246120"/>
            <a:ext cx="219456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نام دامنه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749039"/>
            <a:ext cx="228600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آدرسی خوانا برای انسان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086599" y="2697480"/>
            <a:ext cx="1600201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126479" y="2331720"/>
            <a:ext cx="713232" cy="713232"/>
          </a:xfrm>
          <a:prstGeom prst="ellipse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2414016"/>
            <a:ext cx="713232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0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3246120"/>
            <a:ext cx="219456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پیدا کردن مقصد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749039"/>
            <a:ext cx="228600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استفاده از DNS و IP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343399" y="2697480"/>
            <a:ext cx="160020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383279" y="2331720"/>
            <a:ext cx="713232" cy="713232"/>
          </a:xfrm>
          <a:prstGeom prst="ellipse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2414016"/>
            <a:ext cx="713232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0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59" y="3246120"/>
            <a:ext cx="219456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درخواست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39" y="3749039"/>
            <a:ext cx="228600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ارسال درخواست از مرورگر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00199" y="2697480"/>
            <a:ext cx="160020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79" y="2331720"/>
            <a:ext cx="713232" cy="713232"/>
          </a:xfrm>
          <a:prstGeom prst="ellipse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" y="2414016"/>
            <a:ext cx="713232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20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91440" y="3246120"/>
            <a:ext cx="219456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پاسخ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37160" y="3749039"/>
            <a:ext cx="228600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دریافت منابع و داده‌ها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صفحه‌ای که می‌بینیم معمولاً از دریافت و پردازش چند منبع ساخته می‌شود؛ نه صرفاً یک تصویر.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پشت صحنه یک کلیک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آدرس IP چیست؟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شبکه، دستگاه‌ها برای شناسایی و ارتباط به نشانی نیاز دارند.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4663440" cy="24688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91088" y="2084832"/>
            <a:ext cx="32004" cy="213969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05740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2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آدرس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42032"/>
            <a:ext cx="4279392" cy="17190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نشانی قابل استفاده برای شناسایی یک دستگاه یا رابط شبکه
نمونه آموزشی IPv4: 192.0.2.10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4663440" cy="24688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7" y="2084832"/>
            <a:ext cx="32004" cy="213969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05740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2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دامنه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42032"/>
            <a:ext cx="4279392" cy="17190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نامی خواناتر برای انسان؛ مثل digikala.com
سیستم DNS اطلاعات لازم برای پیدا کردن مقصد را فراهم می‌کند.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996696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دامنه و IP همیشه رابطه یک‌به‌یک ندارند؛ یک دامنه می‌تواند به چند IP اشاره کند.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پشت صحنه یک کلیک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DNS؛ دفترچه تلفن اینترنت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Domain Name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011680"/>
            <a:ext cx="3200400" cy="23317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28248" y="2176272"/>
            <a:ext cx="32004" cy="20025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2148840"/>
            <a:ext cx="28529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نام دامنه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33472"/>
            <a:ext cx="2816352" cy="1581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9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digikala.com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3200400" cy="23317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41648" y="2176272"/>
            <a:ext cx="32004" cy="2002536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148840"/>
            <a:ext cx="28529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اطلاعات مقصد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33472"/>
            <a:ext cx="2816352" cy="1581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آدرس IP و دیگر رکوردهای دامنه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331720"/>
            <a:ext cx="2743200" cy="1691640"/>
          </a:xfrm>
          <a:prstGeom prst="roundRect">
            <a:avLst/>
          </a:prstGeom>
          <a:solidFill>
            <a:srgbClr val="1F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06040"/>
            <a:ext cx="237744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DNS Resolver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37744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جست‌وجو و کش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406640" y="3154680"/>
            <a:ext cx="411480" cy="0"/>
          </a:xfrm>
          <a:prstGeom prst="line">
            <a:avLst/>
          </a:prstGeom>
          <a:ln w="25400">
            <a:solidFill>
              <a:srgbClr val="2F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657600" y="3154680"/>
            <a:ext cx="502920" cy="0"/>
          </a:xfrm>
          <a:prstGeom prst="line">
            <a:avLst/>
          </a:prstGeom>
          <a:ln w="25400">
            <a:solidFill>
              <a:srgbClr val="50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800600"/>
            <a:ext cx="101498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صورت نبودن پاسخ در حافظه موقت، Resolver می‌تواند از Root، سرورهای پسوند دامنه و سرور معتبر کمک بگیرد.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پشت صحنه یک کلیک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Client و Server؛ درخواست و پاسخ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وب، این ارتباط معمولاً با HTTP یا HTTPS انجام می‌شود.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4297680" cy="237744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62488" y="2084832"/>
            <a:ext cx="32004" cy="204825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057400"/>
            <a:ext cx="395020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Client | کارخواه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42032"/>
            <a:ext cx="3913632" cy="16276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 یا نرم‌افزاری که درخواست می‌فرستد و از سرویس استفاده می‌کند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1920240"/>
            <a:ext cx="4297680" cy="237744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0408" y="2084832"/>
            <a:ext cx="32004" cy="204825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057400"/>
            <a:ext cx="395020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Server | سرویس‌دهنده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42032"/>
            <a:ext cx="3913632" cy="16276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سیستمی که درخواست را دریافت و بر اساس وظیفه‌اش پردازش می‌کند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806440" y="2697480"/>
            <a:ext cx="594360" cy="0"/>
          </a:xfrm>
          <a:prstGeom prst="line">
            <a:avLst/>
          </a:prstGeom>
          <a:ln w="25400">
            <a:solidFill>
              <a:srgbClr val="FFB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3429000"/>
            <a:ext cx="594360" cy="0"/>
          </a:xfrm>
          <a:prstGeom prst="line">
            <a:avLst/>
          </a:prstGeom>
          <a:ln w="25400">
            <a:solidFill>
              <a:srgbClr val="50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0" y="2331720"/>
            <a:ext cx="1143000" cy="384048"/>
          </a:xfrm>
          <a:prstGeom prst="roundRect">
            <a:avLst/>
          </a:prstGeom>
          <a:solidFill>
            <a:srgbClr val="1F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350008"/>
            <a:ext cx="105156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657600"/>
            <a:ext cx="1143000" cy="384048"/>
          </a:xfrm>
          <a:prstGeom prst="roundRect">
            <a:avLst/>
          </a:prstGeom>
          <a:solidFill>
            <a:srgbClr val="1F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675887"/>
            <a:ext cx="1051560" cy="329184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3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HTTPS یعنی HTTP روی ارتباط رمزنگاری‌شده با TLS؛ برای محرمانگی، یکپارچگی و بررسی هویت سرور.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پشت صحنه یک کلیک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وب‌سایت استاتیک و داینامیک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تفاوت اصلی در شیوه تولید و ارائه محتواست، نه میزان حرکت یا جذابیت صفحه.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4572000" cy="25146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91088" y="2084832"/>
            <a:ext cx="32004" cy="21854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205740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Static | استاتیک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42032"/>
            <a:ext cx="4187952" cy="17647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فایل‌های آماده مانند HTML، CSS و تصویر
محتوای پایه برای بازدیدکنندگان معمولاً یکسان است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920240"/>
            <a:ext cx="4572000" cy="25146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0408" y="2084832"/>
            <a:ext cx="32004" cy="218541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205740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Dynamic | داینامیک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2542032"/>
            <a:ext cx="4187952" cy="17647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محتوا می‌تواند بر اساس کاربر، پایگاه داده، سفارش یا شرایط دیگر تغییر کند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یک سایت استاتیک هم می‌تواند انیمیشن، منو و تعامل JavaScript داشته باشد.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دموی زنده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سفر یک درخواست در اینترنت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مدل آموزشی ساده‌شده؛ مسیر واقعی الزاماً همین شهرها یا همین مسیر نیست.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9144000" y="2423160"/>
            <a:ext cx="868680" cy="868680"/>
          </a:xfrm>
          <a:prstGeom prst="ellipse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3429000"/>
            <a:ext cx="169164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تهران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840480"/>
            <a:ext cx="205740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2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کاربر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315200" y="2834640"/>
            <a:ext cx="169164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0" y="2423160"/>
            <a:ext cx="868680" cy="868680"/>
          </a:xfrm>
          <a:prstGeom prst="ellipse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69164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استانبول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840480"/>
            <a:ext cx="205740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2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مسیر شبکه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0" y="2834640"/>
            <a:ext cx="169164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57600" y="2423160"/>
            <a:ext cx="868680" cy="868680"/>
          </a:xfrm>
          <a:prstGeom prst="ellipse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429000"/>
            <a:ext cx="169164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فرانکفورت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840480"/>
            <a:ext cx="205740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2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شبکه/مسیریاب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828800" y="2834640"/>
            <a:ext cx="169164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2423160"/>
            <a:ext cx="868680" cy="868680"/>
          </a:xfrm>
          <a:prstGeom prst="ellipse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69164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سرور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840480"/>
            <a:ext cx="2057400" cy="3657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2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مقصد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572000"/>
            <a:ext cx="10241280" cy="914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82528" y="4736592"/>
            <a:ext cx="32004" cy="5852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709160"/>
            <a:ext cx="9893807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سه مرحله دمو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93792"/>
            <a:ext cx="9857232" cy="164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۱. پرسش از DNS   ←   ۲. ارسال درخواست به سرور   ←   ۳. اجرای برنامه و بازگشت پاسخ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جمع‌بندی بلوک سوم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از وارد کردن دامنه تا نمایش صفحه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یک کلیک ساده، همکاری چند بخش مختلف را پشت سر خود دارد.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240280"/>
            <a:ext cx="233172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28248" y="2404872"/>
            <a:ext cx="32004" cy="17282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377440"/>
            <a:ext cx="19842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دامنه و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862072"/>
            <a:ext cx="194767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5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پیدا کردن اطلاعات مقصد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240280"/>
            <a:ext cx="233172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5048" y="2404872"/>
            <a:ext cx="32004" cy="172821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377440"/>
            <a:ext cx="19842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Client و HTTP(S)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862072"/>
            <a:ext cx="194767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5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ارسال درخواست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79" y="2240280"/>
            <a:ext cx="233172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41847" y="2404872"/>
            <a:ext cx="32004" cy="172821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1" y="2377440"/>
            <a:ext cx="19842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59" y="2862072"/>
            <a:ext cx="194767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5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پردازش و آماده‌سازی پاسخ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79" y="2240280"/>
            <a:ext cx="233172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98647" y="2404872"/>
            <a:ext cx="32004" cy="1728216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377440"/>
            <a:ext cx="19842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862072"/>
            <a:ext cx="194767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5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پردازش منابع و ساخت صفحه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پرسش بعدی: مرورگر چگونه منابع را پردازش می‌کند و خود صفحه وب از چه اجزایی ساخته می‌شود؟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اجزای سازنده صفحات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مرورگر؛ فقط پنجره‌ای برای دیدن اینترنت نیست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 یک محیط اجرایی برای دریافت، پردازش و نمایش منابع وب است.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48840"/>
            <a:ext cx="3154680" cy="18288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19688" y="2313432"/>
            <a:ext cx="32004" cy="14996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286000"/>
            <a:ext cx="280720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3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70632"/>
            <a:ext cx="2770632" cy="10789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ساختار محتوا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154680" cy="18288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2088" y="2313432"/>
            <a:ext cx="32004" cy="149961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86000"/>
            <a:ext cx="280720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3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70632"/>
            <a:ext cx="2770632" cy="10789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ظاهر و چیدمان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148840"/>
            <a:ext cx="3154680" cy="18288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8" y="2313432"/>
            <a:ext cx="32004" cy="149961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286000"/>
            <a:ext cx="280720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3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70632"/>
            <a:ext cx="2770632" cy="10789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رفتار و تعامل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241280" cy="8229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 درخواست‌ها را مدیریت می‌کند، کدها را اجرا می‌کند، کوکی‌ها و ذخیره‌سازی محلی را مدیریت می‌کند و دسترسی‌های امنیتی را کنترل می‌کند.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اجزای سازنده صفحات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طراحی وب با توسعه وب چه فرقی دارد؟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دو حوزه مرتبط با نقش‌های متفاوت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4663440" cy="26517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91088" y="2130552"/>
            <a:ext cx="32004" cy="232257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0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Design | طراحی 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87752"/>
            <a:ext cx="4279392" cy="19019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ظاهر و تجربه تعامل
رنگ‌ها، چیدمان، اندازه متن، جای دکمه‌ها، مسیر دسترسی کاربر
UI و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965960"/>
            <a:ext cx="4663440" cy="265176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41848" y="2130552"/>
            <a:ext cx="32004" cy="232257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2103120"/>
            <a:ext cx="4315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0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Web Development | توسعه وب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2587752"/>
            <a:ext cx="4279392" cy="19019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پیاده‌سازی فنی طرح
فعال‌کردن دکمه‌ها، دریافت و ذخیره اطلاعات، اتصال بخش‌های سیستم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عمل ممکن است یک نفر هر دو نقش را داشته باشد یا این کارها بین اعضای تیم تقسیم شوند.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اجزای سازنده صفحات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HTML، CSS و JavaScript؛ سه جزء اصلی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برای ساخت یک صفحه وب، این سه فناوری معمولاً کنار هم کار می‌کنند.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2011680"/>
            <a:ext cx="324612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56848" y="2176272"/>
            <a:ext cx="32004" cy="22311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1" y="214884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2633472"/>
            <a:ext cx="286207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ساختار و معنای محتوا
عنوان، متن، تصویر، فرم و دکمه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2011680"/>
            <a:ext cx="324612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9248" y="2176272"/>
            <a:ext cx="32004" cy="223113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1" y="214884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33472"/>
            <a:ext cx="286207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ظاهر و چیدمان
رنگ، اندازه، فاصله، فونت و جای‌گذاری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79" y="2011680"/>
            <a:ext cx="324612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7" y="2176272"/>
            <a:ext cx="32004" cy="223113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148840"/>
            <a:ext cx="289864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5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2633472"/>
            <a:ext cx="286207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رفتار و تعامل
واکنش به کلیک و تغییرات صفحه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 اسکلت را می‌سازد؛ CSS ظاهر را شکل می‌دهد؛ JavaScript رفتار را فعال می‌کند.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اجزای سازنده صفحات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Frontend و Backend؛ دو سوی یک وب‌سایت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آنچه کاربر می‌بیند و بخش‌هایی که پشت صحنه کار می‌کنند.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4572000" cy="25146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91088" y="2130552"/>
            <a:ext cx="32004" cy="21854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210312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Frontend | سمت کاربر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87752"/>
            <a:ext cx="4187952" cy="17647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بخش قابل مشاهده و قابل تعامل در مرورگر
HTML، CSS و JavaScript در این بخش نقش دارند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965960"/>
            <a:ext cx="4572000" cy="25146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0408" y="2130552"/>
            <a:ext cx="32004" cy="218541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2103120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Backend | سمت سرور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2587752"/>
            <a:ext cx="4187952" cy="17647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پردازش درخواست‌ها، منطق برنامه، کار با داده‌ها و پایگاه داده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806440" y="2743200"/>
            <a:ext cx="502920" cy="0"/>
          </a:xfrm>
          <a:prstGeom prst="line">
            <a:avLst/>
          </a:prstGeom>
          <a:ln w="25400">
            <a:solidFill>
              <a:srgbClr val="FFB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3520440"/>
            <a:ext cx="502920" cy="0"/>
          </a:xfrm>
          <a:prstGeom prst="line">
            <a:avLst/>
          </a:prstGeom>
          <a:ln w="25400">
            <a:solidFill>
              <a:srgbClr val="50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 دو بخش از طریق درخواست‌ها و پاسخ‌ها با هم ارتباط برقرار می‌کنند.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اجزای سازنده صفحات وب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Developer Tools؛ نگاه به پشت صحنه صفحه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ابزارهای داخلی مرورگر برای بررسی و عیب‌یابی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4709160" cy="11430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8" y="2084832"/>
            <a:ext cx="32004" cy="8138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05740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42032"/>
            <a:ext cx="4325112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ساختار HTML و سبک‌های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19" y="1920240"/>
            <a:ext cx="4709160" cy="11430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4728" y="2084832"/>
            <a:ext cx="32004" cy="81381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1" y="205740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2542032"/>
            <a:ext cx="4325112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پیام‌ها و خطاهای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429000"/>
            <a:ext cx="4709160" cy="11430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82528" y="3593592"/>
            <a:ext cx="32004" cy="81381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56616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050791"/>
            <a:ext cx="4325112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درخواست‌ها، پاسخ‌ها و فایل‌های دریافتی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19" y="3429000"/>
            <a:ext cx="4709160" cy="11430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24728" y="3593592"/>
            <a:ext cx="32004" cy="81381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1" y="356616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8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50791"/>
            <a:ext cx="4325112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فایل‌ها و کدهای بارگذاری‌شده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ابزارهای توسعه کمک می‌کنند بفهمیم صفحه چگونه ساخته شده و مشکل از کجاست.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دموی عملی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یک صفحه وب واقعی را بررسی کنیم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مرورگر، Developer Tools را باز می‌کنیم و اجزای صفحه را می‌بینیم.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31</a:t>
            </a:r>
          </a:p>
        </p:txBody>
      </p:sp>
      <p:sp>
        <p:nvSpPr>
          <p:cNvPr id="7" name="Oval 6"/>
          <p:cNvSpPr/>
          <p:nvPr/>
        </p:nvSpPr>
        <p:spPr>
          <a:xfrm>
            <a:off x="8823960" y="2331720"/>
            <a:ext cx="685800" cy="685800"/>
          </a:xfrm>
          <a:prstGeom prst="ellipse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423160"/>
            <a:ext cx="68580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337560"/>
            <a:ext cx="219456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انتخاب یک عنصر در صفحه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040880" y="2651760"/>
            <a:ext cx="160020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080760" y="2331720"/>
            <a:ext cx="685800" cy="685800"/>
          </a:xfrm>
          <a:prstGeom prst="ellipse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423160"/>
            <a:ext cx="68580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337560"/>
            <a:ext cx="219456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مشاهده HTML و CSS آن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97680" y="2651760"/>
            <a:ext cx="160020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337560" y="2331720"/>
            <a:ext cx="685800" cy="685800"/>
          </a:xfrm>
          <a:prstGeom prst="ellipse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60"/>
            <a:ext cx="68580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337560"/>
            <a:ext cx="219456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بررسی درخواست‌ها در Network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554480" y="2651760"/>
            <a:ext cx="1600200" cy="0"/>
          </a:xfrm>
          <a:prstGeom prst="line">
            <a:avLst/>
          </a:prstGeom>
          <a:ln w="25400">
            <a:solidFill>
              <a:srgbClr val="9DB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94360" y="2331720"/>
            <a:ext cx="685800" cy="685800"/>
          </a:xfrm>
          <a:prstGeom prst="ellipse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23160"/>
            <a:ext cx="68580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0A1120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37159" y="3337560"/>
            <a:ext cx="219456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مشاهده پیام‌ها در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6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هدف، دیدن ارتباط میان کد، درخواست‌های شبکه و نتیجه‌ای است که در مرورگر نمایش داده می‌شود.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جمع‌بندی بلوک چهارم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یک صفحه وب از همکاری چند جزء ساخته می‌شود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 سریع مفاهیم این بخش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148840"/>
            <a:ext cx="237744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73967" y="2313432"/>
            <a:ext cx="32004" cy="172821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286000"/>
            <a:ext cx="2029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مرورگر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770632"/>
            <a:ext cx="199339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دریافت و پردازش منابع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148840"/>
            <a:ext cx="237744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7" y="2313432"/>
            <a:ext cx="32004" cy="172821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286000"/>
            <a:ext cx="2029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طراحی وب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770632"/>
            <a:ext cx="199339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ظاهر و تجربه کاربر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79" y="2148840"/>
            <a:ext cx="237744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87567" y="2313432"/>
            <a:ext cx="32004" cy="172821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1" y="2286000"/>
            <a:ext cx="2029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 / CSS /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59" y="2770632"/>
            <a:ext cx="199339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ساختار، ظاهر و رفتار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79" y="2148840"/>
            <a:ext cx="2377440" cy="20574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44367" y="2313432"/>
            <a:ext cx="32004" cy="172821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286000"/>
            <a:ext cx="202996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Frontend /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770632"/>
            <a:ext cx="1993392" cy="13075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سمت کاربر و سمت سرور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حالا نوبت هوش مصنوعی است: آیا می‌تواند جای برنامه‌نویس را بگیرد؟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هوش مصنوعی و برنامه‌نویسی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هوش مصنوعی قرار است جای برنامه‌نویس‌ها را بگیرد؟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ابزار قدرتمند؛ نه جایگزین کاملِ شناخت و قضاوت انسان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457200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45368" y="2039112"/>
            <a:ext cx="32004" cy="223113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011679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چه کمکی می‌کند؟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96312"/>
            <a:ext cx="418795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سرعت‌بخشیدن به کارها
تولید نمونه اولیه و کد
کمک به توضیح و رفع اشکال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874519"/>
            <a:ext cx="4572000" cy="25603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0408" y="2039112"/>
            <a:ext cx="32004" cy="2231136"/>
          </a:xfrm>
          <a:prstGeom prst="rect">
            <a:avLst/>
          </a:prstGeom>
          <a:solidFill>
            <a:srgbClr val="FF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2011679"/>
            <a:ext cx="422452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1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چه چیزی همچنان لازم است؟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2496312"/>
            <a:ext cx="4187952" cy="18105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تعریف درست مسئله
بررسی صحت و امنیت خروجی
تشخیص خطا و انتخاب راه‌حل مناسب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8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بهترین نگاه: هوش مصنوعی یک دستیار قدرتمند است؛ مسئولیت نتیجه نهایی با ماست.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هوش مصنوعی و برنامه‌نویسی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از ایده تا کد؛ دستیار هوشمند چه کارهایی می‌کند؟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 ساخت یک وب‌سایت می‌توانیم مرحله‌به‌مرحله از آن کمک بگیریم.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057400"/>
            <a:ext cx="2423160" cy="22402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19688" y="2221992"/>
            <a:ext cx="32004" cy="191109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94560"/>
            <a:ext cx="2075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ایده‌پردازی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679192"/>
            <a:ext cx="2039112" cy="1490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پیشنهاد موضوع و ساختار صفحه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057400"/>
            <a:ext cx="2423160" cy="22402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6488" y="2221992"/>
            <a:ext cx="32004" cy="191109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194560"/>
            <a:ext cx="2075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نمونه اولیه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79192"/>
            <a:ext cx="2039112" cy="1490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تصویرسازی یا ساخت نسخه اولیه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79" y="2057400"/>
            <a:ext cx="2423160" cy="22402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33288" y="2221992"/>
            <a:ext cx="32004" cy="1911096"/>
          </a:xfrm>
          <a:prstGeom prst="rect">
            <a:avLst/>
          </a:prstGeom>
          <a:solidFill>
            <a:srgbClr val="AE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1" y="2194560"/>
            <a:ext cx="2075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AE91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تولید کد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59" y="2679192"/>
            <a:ext cx="2039112" cy="1490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نوشتن HTML و CSS و 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79" y="2057400"/>
            <a:ext cx="2423160" cy="22402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0087" y="2221992"/>
            <a:ext cx="32004" cy="1911096"/>
          </a:xfrm>
          <a:prstGeom prst="rect">
            <a:avLst/>
          </a:prstGeom>
          <a:solidFill>
            <a:srgbClr val="50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194560"/>
            <a:ext cx="2075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7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اصلاح و توضیح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679192"/>
            <a:ext cx="2039112" cy="1490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تغییر ظاهر، رفع خطا و توضیح کد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5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احتیاط: خروجی را اجرا و بررسی کنید؛ اطلاعات محرمانه، رمزها و کلیدهای دسترسی را بی‌محابا وارد نکنید.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دموی عملی با هوش مصنوعی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با کمک هوش مصنوعی یک کارت محصول بسازیم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درخواست روشن‌تر، احتمال رسیدن به خروجی مطلوب را بیشتر می‌کند.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709160" cy="31546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6808" y="1993392"/>
            <a:ext cx="32004" cy="2825496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0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ویژگی‌های کارت محصول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50592"/>
            <a:ext cx="4325112" cy="24048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تصویر محصول
نام و توضیح کوتاه
قیمت
دکمه افزودن به سبد خرید
طراحی فارسی و راست‌چین، واکنش‌گرا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4709160" cy="315468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0408" y="1993392"/>
            <a:ext cx="32004" cy="2825496"/>
          </a:xfrm>
          <a:prstGeom prst="rect">
            <a:avLst/>
          </a:prstGeom>
          <a:solidFill>
            <a:srgbClr val="56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965960"/>
            <a:ext cx="4361688" cy="43891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0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چرخه کار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0592"/>
            <a:ext cx="4325112" cy="24048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600" b="0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۱. نوشتن درخواست دقیق
۲. دریافت کد در یک فایل HTML
۳. ذخیره و اجرا در مرورگر
۴. درخواست اصلاح و بررسی نتیجه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نمونه درخواست: «یک کارت محصول فارسی و راست‌چین با HTML، CSS و JavaScript در یک فایل مستقل بساز…»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164592"/>
            <a:ext cx="20574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1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پایان جلسه اول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18520" y="246888"/>
            <a:ext cx="658368" cy="54864"/>
          </a:xfrm>
          <a:prstGeom prst="rect">
            <a:avLst/>
          </a:prstGeom>
          <a:solidFill>
            <a:srgbClr val="2F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6858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27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از شناخت اینترنت تا ساخت اولین صفحه وب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 rtl="1">
              <a:defRPr sz="14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امروز از زیرساخت ارتباطی شروع کردیم و به اجزای سازنده صفحه رسیدیم.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" cy="2286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defRPr sz="1000" b="0">
                <a:solidFill>
                  <a:srgbClr val="9DB0C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331720"/>
            <a:ext cx="2331720" cy="960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514600"/>
            <a:ext cx="214884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اینترنت و وب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331720"/>
            <a:ext cx="2331720" cy="960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514600"/>
            <a:ext cx="214884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569BFF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DNS و سرور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331720"/>
            <a:ext cx="2331720" cy="960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14884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FFB553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HTML / CSS / 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31720"/>
            <a:ext cx="2331720" cy="96012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214884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50D39E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هوش مصنوعی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900" b="1">
                <a:solidFill>
                  <a:srgbClr val="F1F5FC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جلسه بعد: از حالت تماشاگر خارج می‌شویم و ساخت صفحه وب را با HTML آغاز می‌کنیم.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defRPr sz="1700" b="1">
                <a:solidFill>
                  <a:srgbClr val="2FD2DA"/>
                </a:solidFill>
                <a:latin typeface="Vazirmatn"/>
              </a:defRPr>
            </a:pPr>
            <a:r>
              <a:rPr lang="fa-IR" altLang="en-US">
                <a:latin typeface="Vazir"/>
              </a:rPr>
              <a:t>ممنون از همراهی شما  ·  تا جلسه بعد، مراقب خودتان باشید! 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" name="Oval 1"/>
          <p:cNvSpPr/>
          <p:nvPr/>
        </p:nvSpPr>
        <p:spPr>
          <a:xfrm>
            <a:off x="1188720" y="1097280"/>
            <a:ext cx="164160" cy="16416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2743200" y="2011680"/>
            <a:ext cx="109440" cy="10944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4114800" y="1005840"/>
            <a:ext cx="136800" cy="13680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Oval 4"/>
          <p:cNvSpPr/>
          <p:nvPr/>
        </p:nvSpPr>
        <p:spPr>
          <a:xfrm>
            <a:off x="1920240" y="3931920"/>
            <a:ext cx="127800" cy="12780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5"/>
          <p:cNvSpPr/>
          <p:nvPr/>
        </p:nvSpPr>
        <p:spPr>
          <a:xfrm>
            <a:off x="3840480" y="4846320"/>
            <a:ext cx="164160" cy="16416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6"/>
          <p:cNvSpPr/>
          <p:nvPr/>
        </p:nvSpPr>
        <p:spPr>
          <a:xfrm>
            <a:off x="5486400" y="3383280"/>
            <a:ext cx="109440" cy="10944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7"/>
          <p:cNvSpPr/>
          <p:nvPr/>
        </p:nvSpPr>
        <p:spPr>
          <a:xfrm>
            <a:off x="7406640" y="1371600"/>
            <a:ext cx="145800" cy="14580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Oval 8"/>
          <p:cNvSpPr/>
          <p:nvPr/>
        </p:nvSpPr>
        <p:spPr>
          <a:xfrm>
            <a:off x="9235440" y="2468880"/>
            <a:ext cx="164160" cy="16416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Oval 9"/>
          <p:cNvSpPr/>
          <p:nvPr/>
        </p:nvSpPr>
        <p:spPr>
          <a:xfrm>
            <a:off x="10698480" y="4297680"/>
            <a:ext cx="127800" cy="12780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Oval 10"/>
          <p:cNvSpPr/>
          <p:nvPr/>
        </p:nvSpPr>
        <p:spPr>
          <a:xfrm>
            <a:off x="8046720" y="5120640"/>
            <a:ext cx="109440" cy="10944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1" name="Connector 11"/>
          <p:cNvCxnSpPr/>
          <p:nvPr/>
        </p:nvCxnSpPr>
        <p:spPr>
          <a:xfrm>
            <a:off x="1280160" y="1188720"/>
            <a:ext cx="1554840" cy="91476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2" name="Connector 12"/>
          <p:cNvCxnSpPr/>
          <p:nvPr/>
        </p:nvCxnSpPr>
        <p:spPr>
          <a:xfrm flipV="1">
            <a:off x="2834640" y="1097280"/>
            <a:ext cx="1371960" cy="100620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3" name="Connector 13"/>
          <p:cNvCxnSpPr/>
          <p:nvPr/>
        </p:nvCxnSpPr>
        <p:spPr>
          <a:xfrm flipH="1">
            <a:off x="2011680" y="2103120"/>
            <a:ext cx="823320" cy="192060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4" name="Connector 14"/>
          <p:cNvCxnSpPr/>
          <p:nvPr/>
        </p:nvCxnSpPr>
        <p:spPr>
          <a:xfrm>
            <a:off x="2011680" y="4023360"/>
            <a:ext cx="1920600" cy="91476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5" name="Connector 15"/>
          <p:cNvCxnSpPr/>
          <p:nvPr/>
        </p:nvCxnSpPr>
        <p:spPr>
          <a:xfrm flipV="1">
            <a:off x="3931920" y="3474720"/>
            <a:ext cx="1646280" cy="146340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6" name="Connector 16"/>
          <p:cNvCxnSpPr/>
          <p:nvPr/>
        </p:nvCxnSpPr>
        <p:spPr>
          <a:xfrm flipV="1">
            <a:off x="5577840" y="1463040"/>
            <a:ext cx="1920240" cy="201204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7" name="Connector 17"/>
          <p:cNvCxnSpPr/>
          <p:nvPr/>
        </p:nvCxnSpPr>
        <p:spPr>
          <a:xfrm>
            <a:off x="7497720" y="1463040"/>
            <a:ext cx="1829520" cy="109764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8" name="Connector 18"/>
          <p:cNvCxnSpPr/>
          <p:nvPr/>
        </p:nvCxnSpPr>
        <p:spPr>
          <a:xfrm>
            <a:off x="9326880" y="2560320"/>
            <a:ext cx="1463400" cy="182916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79" name="Connector 19"/>
          <p:cNvCxnSpPr/>
          <p:nvPr/>
        </p:nvCxnSpPr>
        <p:spPr>
          <a:xfrm flipV="1">
            <a:off x="5577840" y="2560320"/>
            <a:ext cx="3749400" cy="91476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80" name="Connector 20"/>
          <p:cNvCxnSpPr/>
          <p:nvPr/>
        </p:nvCxnSpPr>
        <p:spPr>
          <a:xfrm>
            <a:off x="5577840" y="3474720"/>
            <a:ext cx="2560680" cy="173772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81" name="Connector 21"/>
          <p:cNvCxnSpPr/>
          <p:nvPr/>
        </p:nvCxnSpPr>
        <p:spPr>
          <a:xfrm flipV="1">
            <a:off x="8138160" y="4389120"/>
            <a:ext cx="2652120" cy="82332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cxnSp>
        <p:nvCxnSpPr>
          <p:cNvPr id="82" name="Connector 22"/>
          <p:cNvCxnSpPr/>
          <p:nvPr/>
        </p:nvCxnSpPr>
        <p:spPr>
          <a:xfrm>
            <a:off x="4206240" y="1097280"/>
            <a:ext cx="3291840" cy="366120"/>
          </a:xfrm>
          <a:prstGeom prst="straightConnector1">
            <a:avLst/>
          </a:prstGeom>
          <a:ln w="17640">
            <a:solidFill>
              <a:srgbClr val="1b2b44"/>
            </a:solidFill>
            <a:round/>
          </a:ln>
        </p:spPr>
      </p:cxnSp>
      <p:sp>
        <p:nvSpPr>
          <p:cNvPr id="83" name="TextBox 23"/>
          <p:cNvSpPr/>
          <p:nvPr/>
        </p:nvSpPr>
        <p:spPr>
          <a:xfrm>
            <a:off x="7589520" y="1114920"/>
            <a:ext cx="3474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جلسه اول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4663440" y="1869480"/>
            <a:ext cx="6400440" cy="69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42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اینترنت کجاست؟</a:t>
            </a:r>
            <a:endParaRPr b="0" lang="en-GB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3840480" y="2913480"/>
            <a:ext cx="7223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9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از چند کامپیوتر مستقل تا شبکه‌ای به وسعت جهان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26"/>
          <p:cNvSpPr/>
          <p:nvPr/>
        </p:nvSpPr>
        <p:spPr>
          <a:xfrm>
            <a:off x="8046720" y="3977640"/>
            <a:ext cx="3291480" cy="56664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7"/>
          <p:cNvSpPr/>
          <p:nvPr/>
        </p:nvSpPr>
        <p:spPr>
          <a:xfrm>
            <a:off x="8183880" y="4107960"/>
            <a:ext cx="30171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4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آشنایی با کالبد فیزیکی اینترنت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640080" y="6121440"/>
            <a:ext cx="2742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fa-IR" sz="12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طراحی صفحات وب</a:t>
            </a:r>
            <a:endParaRPr b="0" lang="en-GB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شروع ماجرا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وقتی روی یک لینک کلیک می‌کنیم، چه اتفاقی می‌افتد؟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02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914400" y="1828800"/>
            <a:ext cx="4754520" cy="338292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1143000" y="2057400"/>
            <a:ext cx="4297320" cy="41112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Oval 7"/>
          <p:cNvSpPr/>
          <p:nvPr/>
        </p:nvSpPr>
        <p:spPr>
          <a:xfrm>
            <a:off x="1325880" y="2157840"/>
            <a:ext cx="109440" cy="10944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8"/>
          <p:cNvSpPr/>
          <p:nvPr/>
        </p:nvSpPr>
        <p:spPr>
          <a:xfrm>
            <a:off x="1536120" y="2157840"/>
            <a:ext cx="109440" cy="109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9"/>
          <p:cNvSpPr/>
          <p:nvPr/>
        </p:nvSpPr>
        <p:spPr>
          <a:xfrm>
            <a:off x="1746360" y="2157840"/>
            <a:ext cx="109440" cy="109440"/>
          </a:xfrm>
          <a:prstGeom prst="ellipse">
            <a:avLst/>
          </a:prstGeom>
          <a:solidFill>
            <a:srgbClr val="5dd69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1417320" y="2788920"/>
            <a:ext cx="3748680" cy="2057040"/>
          </a:xfrm>
          <a:prstGeom prst="roundRect">
            <a:avLst>
              <a:gd name="adj" fmla="val 16667"/>
            </a:avLst>
          </a:prstGeom>
          <a:solidFill>
            <a:srgbClr val="1f314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1828800" y="3248640"/>
            <a:ext cx="29257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6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weather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1828800" y="3926880"/>
            <a:ext cx="2925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تهران  ·  </a:t>
            </a: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۲۴</a:t>
            </a:r>
            <a:r>
              <a:rPr b="1" lang="en-US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°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6400800" y="2333880"/>
            <a:ext cx="475452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1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اطلاعاتی که می‌بینیم،</a:t>
            </a:r>
            <a:br>
              <a:rPr sz="3100"/>
            </a:br>
            <a:r>
              <a:rPr b="1" lang="fa-IR" sz="31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از کجا آمده؟</a:t>
            </a:r>
            <a:endParaRPr b="0" lang="en-GB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6446520" y="3903840"/>
            <a:ext cx="457164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8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گوگل کجاست؟</a:t>
            </a:r>
            <a:br>
              <a:rPr sz="1800"/>
            </a:br>
            <a:r>
              <a:rPr b="0" lang="fa-IR" sz="18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اطلاعات کجا نگهداری می‌شود؟</a:t>
            </a:r>
            <a:br>
              <a:rPr sz="1800"/>
            </a:br>
            <a:r>
              <a:rPr b="0" lang="fa-IR" sz="18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چطور به گوشی ما می‌رسد؟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از ارتباط ساده شروع کنیم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شبکه یعنی دستگاه‌ها بتوانند با هم ارتباط برقرار کنند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03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5"/>
          <p:cNvCxnSpPr/>
          <p:nvPr/>
        </p:nvCxnSpPr>
        <p:spPr>
          <a:xfrm flipV="1">
            <a:off x="1920240" y="1828800"/>
            <a:ext cx="2103480" cy="91476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08" name="Connector 6"/>
          <p:cNvCxnSpPr/>
          <p:nvPr/>
        </p:nvCxnSpPr>
        <p:spPr>
          <a:xfrm>
            <a:off x="1920240" y="2743200"/>
            <a:ext cx="2194920" cy="128052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09" name="Connector 7"/>
          <p:cNvCxnSpPr/>
          <p:nvPr/>
        </p:nvCxnSpPr>
        <p:spPr>
          <a:xfrm>
            <a:off x="4023360" y="1828800"/>
            <a:ext cx="2012040" cy="100620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10" name="Connector 8"/>
          <p:cNvCxnSpPr/>
          <p:nvPr/>
        </p:nvCxnSpPr>
        <p:spPr>
          <a:xfrm flipV="1">
            <a:off x="4114800" y="2834640"/>
            <a:ext cx="1920600" cy="118908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11" name="Connector 9"/>
          <p:cNvCxnSpPr/>
          <p:nvPr/>
        </p:nvCxnSpPr>
        <p:spPr>
          <a:xfrm flipV="1">
            <a:off x="6035040" y="1828800"/>
            <a:ext cx="2012040" cy="100620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12" name="Connector 10"/>
          <p:cNvCxnSpPr/>
          <p:nvPr/>
        </p:nvCxnSpPr>
        <p:spPr>
          <a:xfrm>
            <a:off x="6035040" y="2834640"/>
            <a:ext cx="2012040" cy="128052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13" name="Connector 11"/>
          <p:cNvCxnSpPr/>
          <p:nvPr/>
        </p:nvCxnSpPr>
        <p:spPr>
          <a:xfrm>
            <a:off x="8046720" y="1828800"/>
            <a:ext cx="2012040" cy="109764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cxnSp>
        <p:nvCxnSpPr>
          <p:cNvPr id="114" name="Connector 12"/>
          <p:cNvCxnSpPr/>
          <p:nvPr/>
        </p:nvCxnSpPr>
        <p:spPr>
          <a:xfrm flipV="1">
            <a:off x="8046720" y="2926080"/>
            <a:ext cx="2012040" cy="1189080"/>
          </a:xfrm>
          <a:prstGeom prst="straightConnector1">
            <a:avLst/>
          </a:prstGeom>
          <a:ln w="25560">
            <a:solidFill>
              <a:srgbClr val="1b2b44"/>
            </a:solidFill>
            <a:round/>
          </a:ln>
        </p:spPr>
      </p:cxnSp>
      <p:sp>
        <p:nvSpPr>
          <p:cNvPr id="115" name="Oval 13"/>
          <p:cNvSpPr/>
          <p:nvPr/>
        </p:nvSpPr>
        <p:spPr>
          <a:xfrm>
            <a:off x="1920240" y="2743200"/>
            <a:ext cx="566640" cy="5666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1600200" y="347724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PC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15"/>
          <p:cNvSpPr/>
          <p:nvPr/>
        </p:nvSpPr>
        <p:spPr>
          <a:xfrm>
            <a:off x="4023360" y="1828800"/>
            <a:ext cx="566640" cy="56664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6"/>
          <p:cNvSpPr/>
          <p:nvPr/>
        </p:nvSpPr>
        <p:spPr>
          <a:xfrm>
            <a:off x="3703320" y="256284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موبایل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17"/>
          <p:cNvSpPr/>
          <p:nvPr/>
        </p:nvSpPr>
        <p:spPr>
          <a:xfrm>
            <a:off x="4114800" y="4023360"/>
            <a:ext cx="566640" cy="56664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3794760" y="475740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پرینتر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19"/>
          <p:cNvSpPr/>
          <p:nvPr/>
        </p:nvSpPr>
        <p:spPr>
          <a:xfrm>
            <a:off x="6035040" y="2834640"/>
            <a:ext cx="566640" cy="56664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5715000" y="356868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روتر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Oval 21"/>
          <p:cNvSpPr/>
          <p:nvPr/>
        </p:nvSpPr>
        <p:spPr>
          <a:xfrm>
            <a:off x="8046720" y="1828800"/>
            <a:ext cx="566640" cy="566640"/>
          </a:xfrm>
          <a:prstGeom prst="ellipse">
            <a:avLst/>
          </a:prstGeom>
          <a:solidFill>
            <a:srgbClr val="5dd69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7726680" y="256284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لپ‌تاپ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Oval 23"/>
          <p:cNvSpPr/>
          <p:nvPr/>
        </p:nvSpPr>
        <p:spPr>
          <a:xfrm>
            <a:off x="8046720" y="4114800"/>
            <a:ext cx="566640" cy="56664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4"/>
          <p:cNvSpPr/>
          <p:nvPr/>
        </p:nvSpPr>
        <p:spPr>
          <a:xfrm>
            <a:off x="7726680" y="484884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تلویزیون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25"/>
          <p:cNvSpPr/>
          <p:nvPr/>
        </p:nvSpPr>
        <p:spPr>
          <a:xfrm>
            <a:off x="10058400" y="2926080"/>
            <a:ext cx="566640" cy="5666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6"/>
          <p:cNvSpPr/>
          <p:nvPr/>
        </p:nvSpPr>
        <p:spPr>
          <a:xfrm>
            <a:off x="9738360" y="3660120"/>
            <a:ext cx="12340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11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PC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7"/>
          <p:cNvSpPr/>
          <p:nvPr/>
        </p:nvSpPr>
        <p:spPr>
          <a:xfrm>
            <a:off x="3657600" y="5336640"/>
            <a:ext cx="493740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2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شبکه محلی (</a:t>
            </a:r>
            <a:r>
              <a:rPr b="1" lang="en-US" sz="22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LAN</a:t>
            </a:r>
            <a:r>
              <a:rPr b="1" lang="en-US" sz="22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)</a:t>
            </a:r>
            <a:endParaRPr b="0" lang="en-GB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8"/>
          <p:cNvSpPr/>
          <p:nvPr/>
        </p:nvSpPr>
        <p:spPr>
          <a:xfrm>
            <a:off x="3017520" y="5831640"/>
            <a:ext cx="621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4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حتی بدون اینترنت هم می‌تواند وجود داشته باشد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یک مسیر تاریخی کوتاه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اینترنت یک‌شبه به وجود نیامد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04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Connector 5"/>
          <p:cNvCxnSpPr/>
          <p:nvPr/>
        </p:nvCxnSpPr>
        <p:spPr>
          <a:xfrm>
            <a:off x="1828800" y="3383280"/>
            <a:ext cx="8412840" cy="360"/>
          </a:xfrm>
          <a:prstGeom prst="straightConnector1">
            <a:avLst/>
          </a:prstGeom>
          <a:ln w="50760">
            <a:solidFill>
              <a:srgbClr val="1b2b44"/>
            </a:solidFill>
            <a:round/>
          </a:ln>
        </p:spPr>
      </p:cxnSp>
      <p:sp>
        <p:nvSpPr>
          <p:cNvPr id="136" name="Oval 6"/>
          <p:cNvSpPr/>
          <p:nvPr/>
        </p:nvSpPr>
        <p:spPr>
          <a:xfrm>
            <a:off x="2011680" y="3072240"/>
            <a:ext cx="621360" cy="62136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1508760" y="2204640"/>
            <a:ext cx="1645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۱۹۶۹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1325880" y="4147560"/>
            <a:ext cx="20113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نخستین ارتباط‌های</a:t>
            </a:r>
            <a:br>
              <a:rPr sz="1400"/>
            </a:br>
            <a:r>
              <a:rPr b="1" lang="en-US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ARPANET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Oval 9"/>
          <p:cNvSpPr/>
          <p:nvPr/>
        </p:nvSpPr>
        <p:spPr>
          <a:xfrm>
            <a:off x="4663440" y="3072240"/>
            <a:ext cx="621360" cy="62136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4160520" y="2204640"/>
            <a:ext cx="1645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4984ff"/>
                </a:solidFill>
                <a:effectLst/>
                <a:uFillTx/>
                <a:latin typeface="DejaVu Sans"/>
              </a:rPr>
              <a:t>۱۹۸۳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3977640" y="4147560"/>
            <a:ext cx="20113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استفاده از </a:t>
            </a:r>
            <a:r>
              <a:rPr b="1" lang="en-US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TCP/IP</a:t>
            </a:r>
            <a:br>
              <a:rPr sz="1400"/>
            </a:b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در </a:t>
            </a:r>
            <a:r>
              <a:rPr b="1" lang="en-US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ARPANET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2"/>
          <p:cNvSpPr/>
          <p:nvPr/>
        </p:nvSpPr>
        <p:spPr>
          <a:xfrm>
            <a:off x="7315200" y="3072240"/>
            <a:ext cx="621360" cy="62136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3"/>
          <p:cNvSpPr/>
          <p:nvPr/>
        </p:nvSpPr>
        <p:spPr>
          <a:xfrm>
            <a:off x="6812280" y="2204640"/>
            <a:ext cx="1645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a371ff"/>
                </a:solidFill>
                <a:effectLst/>
                <a:uFillTx/>
                <a:latin typeface="DejaVu Sans"/>
              </a:rPr>
              <a:t>دهه </a:t>
            </a:r>
            <a:r>
              <a:rPr b="1" lang="fa-IR" sz="1900" strike="noStrike" u="none">
                <a:solidFill>
                  <a:srgbClr val="a371ff"/>
                </a:solidFill>
                <a:effectLst/>
                <a:uFillTx/>
                <a:latin typeface="DejaVu Sans"/>
              </a:rPr>
              <a:t>۹۰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6629400" y="4147560"/>
            <a:ext cx="20113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گسترش اینترنت</a:t>
            </a:r>
            <a:br>
              <a:rPr sz="1400"/>
            </a:b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برای عموم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Oval 15"/>
          <p:cNvSpPr/>
          <p:nvPr/>
        </p:nvSpPr>
        <p:spPr>
          <a:xfrm>
            <a:off x="9966960" y="3072240"/>
            <a:ext cx="621360" cy="62136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6"/>
          <p:cNvSpPr/>
          <p:nvPr/>
        </p:nvSpPr>
        <p:spPr>
          <a:xfrm>
            <a:off x="9464040" y="2204640"/>
            <a:ext cx="1645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ffae5b"/>
                </a:solidFill>
                <a:effectLst/>
                <a:uFillTx/>
                <a:latin typeface="DejaVu Sans"/>
              </a:rPr>
              <a:t>امروز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7"/>
          <p:cNvSpPr/>
          <p:nvPr/>
        </p:nvSpPr>
        <p:spPr>
          <a:xfrm>
            <a:off x="9281160" y="4147560"/>
            <a:ext cx="201132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شبکه‌ای جهانی</a:t>
            </a:r>
            <a:br>
              <a:rPr sz="1400"/>
            </a:br>
            <a:r>
              <a:rPr b="1" lang="fa-IR" sz="1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از شبکه‌ها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8"/>
          <p:cNvSpPr/>
          <p:nvPr/>
        </p:nvSpPr>
        <p:spPr>
          <a:xfrm>
            <a:off x="2834640" y="5557320"/>
            <a:ext cx="65833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ARPANET  →  TCP/IP  →  Internet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زیرساخت فیزیکی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اینترنت فقط یک مفهوم نامرئی نیست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05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5"/>
          <p:cNvSpPr/>
          <p:nvPr/>
        </p:nvSpPr>
        <p:spPr>
          <a:xfrm>
            <a:off x="822960" y="1920240"/>
            <a:ext cx="3291480" cy="320004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Oval 6"/>
          <p:cNvSpPr/>
          <p:nvPr/>
        </p:nvSpPr>
        <p:spPr>
          <a:xfrm>
            <a:off x="2121480" y="2423160"/>
            <a:ext cx="712800" cy="71280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51560" y="3492360"/>
            <a:ext cx="28342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1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کابل مسی</a:t>
            </a:r>
            <a:endParaRPr b="0" lang="en-GB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1051560" y="4132440"/>
            <a:ext cx="2834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سیگنال الکتریکی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9"/>
          <p:cNvSpPr/>
          <p:nvPr/>
        </p:nvSpPr>
        <p:spPr>
          <a:xfrm>
            <a:off x="4343400" y="1920240"/>
            <a:ext cx="3291480" cy="320004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Oval 10"/>
          <p:cNvSpPr/>
          <p:nvPr/>
        </p:nvSpPr>
        <p:spPr>
          <a:xfrm>
            <a:off x="5641920" y="2423160"/>
            <a:ext cx="712800" cy="71280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4572000" y="3492360"/>
            <a:ext cx="28342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1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فیبر نوری</a:t>
            </a:r>
            <a:endParaRPr b="0" lang="en-GB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4572000" y="4132440"/>
            <a:ext cx="2834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پالس‌های نور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3"/>
          <p:cNvSpPr/>
          <p:nvPr/>
        </p:nvSpPr>
        <p:spPr>
          <a:xfrm>
            <a:off x="7863840" y="1920240"/>
            <a:ext cx="3291480" cy="320004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Oval 14"/>
          <p:cNvSpPr/>
          <p:nvPr/>
        </p:nvSpPr>
        <p:spPr>
          <a:xfrm>
            <a:off x="9162360" y="2423160"/>
            <a:ext cx="712800" cy="71280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8092440" y="3492360"/>
            <a:ext cx="28342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1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ارتباط بی‌سیم</a:t>
            </a:r>
            <a:endParaRPr b="0" lang="en-GB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8092440" y="4132440"/>
            <a:ext cx="2834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امواج رادیویی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1371600" y="5641200"/>
            <a:ext cx="94179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از مودم خانه تا مراکز داده و کابل‌های بین‌قاره‌ای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6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کابل‌های زیردریایی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594360" y="538920"/>
            <a:ext cx="1097244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بخش بزرگی از ارتباطات بین‌قاره‌ای از کف اقیانوس می‌گذرد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06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Connector 5"/>
          <p:cNvCxnSpPr/>
          <p:nvPr/>
        </p:nvCxnSpPr>
        <p:spPr>
          <a:xfrm>
            <a:off x="731520" y="4206240"/>
            <a:ext cx="10607400" cy="360"/>
          </a:xfrm>
          <a:prstGeom prst="straightConnector1">
            <a:avLst/>
          </a:prstGeom>
          <a:ln w="25560">
            <a:solidFill>
              <a:srgbClr val="184068"/>
            </a:solidFill>
            <a:round/>
          </a:ln>
        </p:spPr>
      </p:cxnSp>
      <p:cxnSp>
        <p:nvCxnSpPr>
          <p:cNvPr id="171" name="Connector 6"/>
          <p:cNvCxnSpPr/>
          <p:nvPr/>
        </p:nvCxnSpPr>
        <p:spPr>
          <a:xfrm>
            <a:off x="731520" y="4516920"/>
            <a:ext cx="10607400" cy="360"/>
          </a:xfrm>
          <a:prstGeom prst="straightConnector1">
            <a:avLst/>
          </a:prstGeom>
          <a:ln w="25560">
            <a:solidFill>
              <a:srgbClr val="184068"/>
            </a:solidFill>
            <a:round/>
          </a:ln>
        </p:spPr>
      </p:cxnSp>
      <p:cxnSp>
        <p:nvCxnSpPr>
          <p:cNvPr id="172" name="Connector 7"/>
          <p:cNvCxnSpPr/>
          <p:nvPr/>
        </p:nvCxnSpPr>
        <p:spPr>
          <a:xfrm>
            <a:off x="731520" y="4827960"/>
            <a:ext cx="10607400" cy="360"/>
          </a:xfrm>
          <a:prstGeom prst="straightConnector1">
            <a:avLst/>
          </a:prstGeom>
          <a:ln w="25560">
            <a:solidFill>
              <a:srgbClr val="184068"/>
            </a:solidFill>
            <a:round/>
          </a:ln>
        </p:spPr>
      </p:cxnSp>
      <p:cxnSp>
        <p:nvCxnSpPr>
          <p:cNvPr id="173" name="Connector 8"/>
          <p:cNvCxnSpPr/>
          <p:nvPr/>
        </p:nvCxnSpPr>
        <p:spPr>
          <a:xfrm>
            <a:off x="731520" y="5138640"/>
            <a:ext cx="10607400" cy="360"/>
          </a:xfrm>
          <a:prstGeom prst="straightConnector1">
            <a:avLst/>
          </a:prstGeom>
          <a:ln w="25560">
            <a:solidFill>
              <a:srgbClr val="184068"/>
            </a:solidFill>
            <a:round/>
          </a:ln>
        </p:spPr>
      </p:cxnSp>
      <p:cxnSp>
        <p:nvCxnSpPr>
          <p:cNvPr id="174" name="Connector 9"/>
          <p:cNvCxnSpPr/>
          <p:nvPr/>
        </p:nvCxnSpPr>
        <p:spPr>
          <a:xfrm>
            <a:off x="731520" y="5449680"/>
            <a:ext cx="10607400" cy="360"/>
          </a:xfrm>
          <a:prstGeom prst="straightConnector1">
            <a:avLst/>
          </a:prstGeom>
          <a:ln w="25560">
            <a:solidFill>
              <a:srgbClr val="184068"/>
            </a:solidFill>
            <a:round/>
          </a:ln>
        </p:spPr>
      </p:cxnSp>
      <p:sp>
        <p:nvSpPr>
          <p:cNvPr id="175" name="Rounded Rectangle 10"/>
          <p:cNvSpPr/>
          <p:nvPr/>
        </p:nvSpPr>
        <p:spPr>
          <a:xfrm>
            <a:off x="1188720" y="1828800"/>
            <a:ext cx="2834280" cy="1508400"/>
          </a:xfrm>
          <a:prstGeom prst="roundRect">
            <a:avLst>
              <a:gd name="adj" fmla="val 16667"/>
            </a:avLst>
          </a:prstGeom>
          <a:solidFill>
            <a:srgbClr val="2b5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ounded Rectangle 11"/>
          <p:cNvSpPr/>
          <p:nvPr/>
        </p:nvSpPr>
        <p:spPr>
          <a:xfrm>
            <a:off x="8046720" y="1691640"/>
            <a:ext cx="2925720" cy="1645560"/>
          </a:xfrm>
          <a:prstGeom prst="roundRect">
            <a:avLst>
              <a:gd name="adj" fmla="val 16667"/>
            </a:avLst>
          </a:prstGeom>
          <a:solidFill>
            <a:srgbClr val="2b5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1508760" y="2319120"/>
            <a:ext cx="21942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قاره </a:t>
            </a:r>
            <a:r>
              <a:rPr b="1" lang="en-US" sz="19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A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3"/>
          <p:cNvSpPr/>
          <p:nvPr/>
        </p:nvSpPr>
        <p:spPr>
          <a:xfrm>
            <a:off x="8366760" y="2227680"/>
            <a:ext cx="21942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قاره </a:t>
            </a:r>
            <a:r>
              <a:rPr b="1" lang="en-US" sz="19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B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14"/>
          <p:cNvSpPr/>
          <p:nvPr/>
        </p:nvSpPr>
        <p:spPr>
          <a:xfrm>
            <a:off x="3840480" y="333756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Oval 15"/>
          <p:cNvSpPr/>
          <p:nvPr/>
        </p:nvSpPr>
        <p:spPr>
          <a:xfrm>
            <a:off x="4224600" y="346716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1" name="Connector 16"/>
          <p:cNvCxnSpPr/>
          <p:nvPr/>
        </p:nvCxnSpPr>
        <p:spPr>
          <a:xfrm>
            <a:off x="4132800" y="3337560"/>
            <a:ext cx="91800" cy="12960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82" name="Oval 17"/>
          <p:cNvSpPr/>
          <p:nvPr/>
        </p:nvSpPr>
        <p:spPr>
          <a:xfrm>
            <a:off x="4608720" y="353592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3" name="Connector 18"/>
          <p:cNvCxnSpPr/>
          <p:nvPr/>
        </p:nvCxnSpPr>
        <p:spPr>
          <a:xfrm>
            <a:off x="4516920" y="3466800"/>
            <a:ext cx="91800" cy="6912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84" name="Oval 19"/>
          <p:cNvSpPr/>
          <p:nvPr/>
        </p:nvSpPr>
        <p:spPr>
          <a:xfrm>
            <a:off x="4992480" y="351108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5" name="Connector 20"/>
          <p:cNvCxnSpPr/>
          <p:nvPr/>
        </p:nvCxnSpPr>
        <p:spPr>
          <a:xfrm flipV="1">
            <a:off x="4901040" y="3511080"/>
            <a:ext cx="91800" cy="2484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86" name="Oval 21"/>
          <p:cNvSpPr/>
          <p:nvPr/>
        </p:nvSpPr>
        <p:spPr>
          <a:xfrm>
            <a:off x="5376600" y="340488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7" name="Connector 22"/>
          <p:cNvCxnSpPr/>
          <p:nvPr/>
        </p:nvCxnSpPr>
        <p:spPr>
          <a:xfrm flipV="1">
            <a:off x="5285160" y="3404880"/>
            <a:ext cx="91800" cy="10656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88" name="Oval 23"/>
          <p:cNvSpPr/>
          <p:nvPr/>
        </p:nvSpPr>
        <p:spPr>
          <a:xfrm>
            <a:off x="5760720" y="326700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9" name="Connector 24"/>
          <p:cNvCxnSpPr/>
          <p:nvPr/>
        </p:nvCxnSpPr>
        <p:spPr>
          <a:xfrm flipV="1">
            <a:off x="5669280" y="3266640"/>
            <a:ext cx="91800" cy="13860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90" name="Oval 25"/>
          <p:cNvSpPr/>
          <p:nvPr/>
        </p:nvSpPr>
        <p:spPr>
          <a:xfrm>
            <a:off x="6144840" y="316224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1" name="Connector 26"/>
          <p:cNvCxnSpPr/>
          <p:nvPr/>
        </p:nvCxnSpPr>
        <p:spPr>
          <a:xfrm flipV="1">
            <a:off x="6053040" y="3161880"/>
            <a:ext cx="91800" cy="10512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92" name="Oval 27"/>
          <p:cNvSpPr/>
          <p:nvPr/>
        </p:nvSpPr>
        <p:spPr>
          <a:xfrm>
            <a:off x="6528960" y="313992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3" name="Connector 28"/>
          <p:cNvCxnSpPr/>
          <p:nvPr/>
        </p:nvCxnSpPr>
        <p:spPr>
          <a:xfrm flipV="1">
            <a:off x="6437160" y="3139920"/>
            <a:ext cx="91800" cy="2232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94" name="Oval 29"/>
          <p:cNvSpPr/>
          <p:nvPr/>
        </p:nvSpPr>
        <p:spPr>
          <a:xfrm>
            <a:off x="6912720" y="321048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5" name="Connector 30"/>
          <p:cNvCxnSpPr/>
          <p:nvPr/>
        </p:nvCxnSpPr>
        <p:spPr>
          <a:xfrm>
            <a:off x="6821280" y="3139920"/>
            <a:ext cx="91800" cy="7092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96" name="Oval 31"/>
          <p:cNvSpPr/>
          <p:nvPr/>
        </p:nvSpPr>
        <p:spPr>
          <a:xfrm>
            <a:off x="7296840" y="334080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7" name="Connector 32"/>
          <p:cNvCxnSpPr/>
          <p:nvPr/>
        </p:nvCxnSpPr>
        <p:spPr>
          <a:xfrm>
            <a:off x="7205400" y="3210480"/>
            <a:ext cx="91800" cy="13068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198" name="Oval 33"/>
          <p:cNvSpPr/>
          <p:nvPr/>
        </p:nvSpPr>
        <p:spPr>
          <a:xfrm>
            <a:off x="7680960" y="346968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9" name="Connector 34"/>
          <p:cNvCxnSpPr/>
          <p:nvPr/>
        </p:nvCxnSpPr>
        <p:spPr>
          <a:xfrm>
            <a:off x="7589520" y="3340800"/>
            <a:ext cx="91800" cy="12924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200" name="Oval 35"/>
          <p:cNvSpPr/>
          <p:nvPr/>
        </p:nvSpPr>
        <p:spPr>
          <a:xfrm>
            <a:off x="8065080" y="3536280"/>
            <a:ext cx="118440" cy="11844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01" name="Connector 36"/>
          <p:cNvCxnSpPr/>
          <p:nvPr/>
        </p:nvCxnSpPr>
        <p:spPr>
          <a:xfrm>
            <a:off x="7973280" y="3469680"/>
            <a:ext cx="91800" cy="66960"/>
          </a:xfrm>
          <a:prstGeom prst="straightConnector1">
            <a:avLst/>
          </a:prstGeom>
          <a:ln w="25560">
            <a:solidFill>
              <a:srgbClr val="3ad2dc"/>
            </a:solidFill>
            <a:round/>
          </a:ln>
        </p:spPr>
      </p:cxnSp>
      <p:sp>
        <p:nvSpPr>
          <p:cNvPr id="202" name="TextBox 37"/>
          <p:cNvSpPr/>
          <p:nvPr/>
        </p:nvSpPr>
        <p:spPr>
          <a:xfrm>
            <a:off x="4572000" y="5481360"/>
            <a:ext cx="30171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کابل فیبر نوری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8"/>
          <p:cNvSpPr/>
          <p:nvPr/>
        </p:nvSpPr>
        <p:spPr>
          <a:xfrm>
            <a:off x="2743200" y="6006960"/>
            <a:ext cx="6674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2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نقشه واقعی کابل‌ها: </a:t>
            </a:r>
            <a:r>
              <a:rPr b="0" lang="en-US" sz="12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submarinecablemap.com</a:t>
            </a:r>
            <a:endParaRPr b="0" lang="en-GB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4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en-US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Packet</a:t>
            </a:r>
            <a:r>
              <a:rPr b="1" lang="en-US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 یا بسته اطلاعاتی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اطلاعات معمولاً یک‌جا سفر نمی‌کند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07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5"/>
          <p:cNvSpPr/>
          <p:nvPr/>
        </p:nvSpPr>
        <p:spPr>
          <a:xfrm>
            <a:off x="822960" y="2286000"/>
            <a:ext cx="2285640" cy="219420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1051560" y="2928600"/>
            <a:ext cx="18284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یک فایل</a:t>
            </a:r>
            <a:endParaRPr b="0" lang="en-GB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051560" y="3576240"/>
            <a:ext cx="1828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3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عکس / سند / پیام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Connector 8"/>
          <p:cNvCxnSpPr/>
          <p:nvPr/>
        </p:nvCxnSpPr>
        <p:spPr>
          <a:xfrm>
            <a:off x="3383280" y="3383280"/>
            <a:ext cx="1189080" cy="360"/>
          </a:xfrm>
          <a:prstGeom prst="straightConnector1">
            <a:avLst/>
          </a:prstGeom>
          <a:ln w="38160">
            <a:solidFill>
              <a:srgbClr val="3ad2dc"/>
            </a:solidFill>
            <a:round/>
          </a:ln>
        </p:spPr>
      </p:cxnSp>
      <p:sp>
        <p:nvSpPr>
          <p:cNvPr id="212" name="Rounded Rectangle 9"/>
          <p:cNvSpPr/>
          <p:nvPr/>
        </p:nvSpPr>
        <p:spPr>
          <a:xfrm>
            <a:off x="4754880" y="2423160"/>
            <a:ext cx="712800" cy="173700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0"/>
          <p:cNvSpPr/>
          <p:nvPr/>
        </p:nvSpPr>
        <p:spPr>
          <a:xfrm>
            <a:off x="4800600" y="2974320"/>
            <a:ext cx="6213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0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1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1"/>
          <p:cNvSpPr/>
          <p:nvPr/>
        </p:nvSpPr>
        <p:spPr>
          <a:xfrm>
            <a:off x="5669280" y="2423160"/>
            <a:ext cx="712800" cy="173700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5715000" y="2974320"/>
            <a:ext cx="6213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000" strike="noStrike" u="none">
                <a:solidFill>
                  <a:srgbClr val="4984ff"/>
                </a:solidFill>
                <a:effectLst/>
                <a:uFillTx/>
                <a:latin typeface="DejaVu Sans"/>
              </a:rPr>
              <a:t>2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13"/>
          <p:cNvSpPr/>
          <p:nvPr/>
        </p:nvSpPr>
        <p:spPr>
          <a:xfrm>
            <a:off x="6583680" y="2423160"/>
            <a:ext cx="712800" cy="173700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6629400" y="2974320"/>
            <a:ext cx="6213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000" strike="noStrike" u="none">
                <a:solidFill>
                  <a:srgbClr val="a371ff"/>
                </a:solidFill>
                <a:effectLst/>
                <a:uFillTx/>
                <a:latin typeface="DejaVu Sans"/>
              </a:rPr>
              <a:t>3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5"/>
          <p:cNvSpPr/>
          <p:nvPr/>
        </p:nvSpPr>
        <p:spPr>
          <a:xfrm>
            <a:off x="7498080" y="2423160"/>
            <a:ext cx="712800" cy="173700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7543800" y="2974320"/>
            <a:ext cx="6213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en-US" sz="2000" strike="noStrike" u="none">
                <a:solidFill>
                  <a:srgbClr val="ffae5b"/>
                </a:solidFill>
                <a:effectLst/>
                <a:uFillTx/>
                <a:latin typeface="DejaVu Sans"/>
              </a:rPr>
              <a:t>4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17"/>
          <p:cNvCxnSpPr/>
          <p:nvPr/>
        </p:nvCxnSpPr>
        <p:spPr>
          <a:xfrm>
            <a:off x="8595360" y="3383280"/>
            <a:ext cx="640440" cy="360"/>
          </a:xfrm>
          <a:prstGeom prst="straightConnector1">
            <a:avLst/>
          </a:prstGeom>
          <a:ln w="38160">
            <a:solidFill>
              <a:srgbClr val="3ad2dc"/>
            </a:solidFill>
            <a:round/>
          </a:ln>
        </p:spPr>
      </p:cxnSp>
      <p:sp>
        <p:nvSpPr>
          <p:cNvPr id="221" name="Rounded Rectangle 18"/>
          <p:cNvSpPr/>
          <p:nvPr/>
        </p:nvSpPr>
        <p:spPr>
          <a:xfrm>
            <a:off x="9418320" y="2286000"/>
            <a:ext cx="1919880" cy="219420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9"/>
          <p:cNvSpPr/>
          <p:nvPr/>
        </p:nvSpPr>
        <p:spPr>
          <a:xfrm>
            <a:off x="9555480" y="2951280"/>
            <a:ext cx="1645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بازسازی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0"/>
          <p:cNvSpPr/>
          <p:nvPr/>
        </p:nvSpPr>
        <p:spPr>
          <a:xfrm>
            <a:off x="9555480" y="3576240"/>
            <a:ext cx="1645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0" lang="fa-IR" sz="13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در مقصد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1"/>
          <p:cNvSpPr/>
          <p:nvPr/>
        </p:nvSpPr>
        <p:spPr>
          <a:xfrm>
            <a:off x="1920240" y="5245200"/>
            <a:ext cx="841212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9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تقسیم داده  →  انتقال بسته‌ها  →  دریافت و بازسازی</a:t>
            </a:r>
            <a:endParaRPr b="0" lang="en-GB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5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نقش روترها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چه کسی مسیر بسته‌ها را پیدا می‌کند؟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08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or 5"/>
          <p:cNvCxnSpPr/>
          <p:nvPr/>
        </p:nvCxnSpPr>
        <p:spPr>
          <a:xfrm flipV="1">
            <a:off x="1371600" y="2103120"/>
            <a:ext cx="2286360" cy="201204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0" name="Connector 6"/>
          <p:cNvCxnSpPr/>
          <p:nvPr/>
        </p:nvCxnSpPr>
        <p:spPr>
          <a:xfrm>
            <a:off x="1371600" y="4114800"/>
            <a:ext cx="2286360" cy="100620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1" name="Connector 7"/>
          <p:cNvCxnSpPr/>
          <p:nvPr/>
        </p:nvCxnSpPr>
        <p:spPr>
          <a:xfrm>
            <a:off x="3657600" y="2103120"/>
            <a:ext cx="2743560" cy="137196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2" name="Connector 8"/>
          <p:cNvCxnSpPr/>
          <p:nvPr/>
        </p:nvCxnSpPr>
        <p:spPr>
          <a:xfrm flipV="1">
            <a:off x="3657600" y="3474720"/>
            <a:ext cx="2743560" cy="164628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3" name="Connector 9"/>
          <p:cNvCxnSpPr/>
          <p:nvPr/>
        </p:nvCxnSpPr>
        <p:spPr>
          <a:xfrm flipV="1">
            <a:off x="6400800" y="1920240"/>
            <a:ext cx="2377800" cy="155484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4" name="Connector 10"/>
          <p:cNvCxnSpPr/>
          <p:nvPr/>
        </p:nvCxnSpPr>
        <p:spPr>
          <a:xfrm>
            <a:off x="6400800" y="3474720"/>
            <a:ext cx="4206600" cy="137196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cxnSp>
        <p:nvCxnSpPr>
          <p:cNvPr id="235" name="Connector 11"/>
          <p:cNvCxnSpPr/>
          <p:nvPr/>
        </p:nvCxnSpPr>
        <p:spPr>
          <a:xfrm>
            <a:off x="8778240" y="1920240"/>
            <a:ext cx="1829160" cy="2926440"/>
          </a:xfrm>
          <a:prstGeom prst="straightConnector1">
            <a:avLst/>
          </a:prstGeom>
          <a:ln w="38160">
            <a:solidFill>
              <a:srgbClr val="1b2b44"/>
            </a:solidFill>
            <a:round/>
          </a:ln>
        </p:spPr>
      </p:cxnSp>
      <p:sp>
        <p:nvSpPr>
          <p:cNvPr id="236" name="Oval 12"/>
          <p:cNvSpPr/>
          <p:nvPr/>
        </p:nvSpPr>
        <p:spPr>
          <a:xfrm>
            <a:off x="1371600" y="4114800"/>
            <a:ext cx="639720" cy="63972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3"/>
          <p:cNvSpPr/>
          <p:nvPr/>
        </p:nvSpPr>
        <p:spPr>
          <a:xfrm>
            <a:off x="1051560" y="492480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مبدأ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Oval 14"/>
          <p:cNvSpPr/>
          <p:nvPr/>
        </p:nvSpPr>
        <p:spPr>
          <a:xfrm>
            <a:off x="3657600" y="2103120"/>
            <a:ext cx="639720" cy="63972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3337560" y="291312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روتر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Oval 16"/>
          <p:cNvSpPr/>
          <p:nvPr/>
        </p:nvSpPr>
        <p:spPr>
          <a:xfrm>
            <a:off x="3657600" y="5120640"/>
            <a:ext cx="639720" cy="63972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3337560" y="593064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روتر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Oval 18"/>
          <p:cNvSpPr/>
          <p:nvPr/>
        </p:nvSpPr>
        <p:spPr>
          <a:xfrm>
            <a:off x="6400800" y="3474720"/>
            <a:ext cx="639720" cy="63972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9"/>
          <p:cNvSpPr/>
          <p:nvPr/>
        </p:nvSpPr>
        <p:spPr>
          <a:xfrm>
            <a:off x="6080760" y="428472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روتر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Oval 20"/>
          <p:cNvSpPr/>
          <p:nvPr/>
        </p:nvSpPr>
        <p:spPr>
          <a:xfrm>
            <a:off x="8778240" y="1920240"/>
            <a:ext cx="639720" cy="63972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8458200" y="273024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روتر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Oval 22"/>
          <p:cNvSpPr/>
          <p:nvPr/>
        </p:nvSpPr>
        <p:spPr>
          <a:xfrm>
            <a:off x="10607040" y="4846320"/>
            <a:ext cx="639720" cy="639720"/>
          </a:xfrm>
          <a:prstGeom prst="ellipse">
            <a:avLst/>
          </a:prstGeom>
          <a:solidFill>
            <a:srgbClr val="5dd69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3"/>
          <p:cNvSpPr/>
          <p:nvPr/>
        </p:nvSpPr>
        <p:spPr>
          <a:xfrm>
            <a:off x="10287000" y="5656320"/>
            <a:ext cx="1279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3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مقصد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Connector 24"/>
          <p:cNvCxnSpPr/>
          <p:nvPr/>
        </p:nvCxnSpPr>
        <p:spPr>
          <a:xfrm flipV="1">
            <a:off x="1371600" y="2103120"/>
            <a:ext cx="2286360" cy="2012040"/>
          </a:xfrm>
          <a:prstGeom prst="straightConnector1">
            <a:avLst/>
          </a:prstGeom>
          <a:ln w="44280">
            <a:solidFill>
              <a:srgbClr val="3ad2dc"/>
            </a:solidFill>
            <a:round/>
          </a:ln>
        </p:spPr>
      </p:cxnSp>
      <p:cxnSp>
        <p:nvCxnSpPr>
          <p:cNvPr id="249" name="Connector 25"/>
          <p:cNvCxnSpPr/>
          <p:nvPr/>
        </p:nvCxnSpPr>
        <p:spPr>
          <a:xfrm>
            <a:off x="3657600" y="2103120"/>
            <a:ext cx="2743560" cy="1371960"/>
          </a:xfrm>
          <a:prstGeom prst="straightConnector1">
            <a:avLst/>
          </a:prstGeom>
          <a:ln w="44280">
            <a:solidFill>
              <a:srgbClr val="3ad2dc"/>
            </a:solidFill>
            <a:round/>
          </a:ln>
        </p:spPr>
      </p:cxnSp>
      <p:cxnSp>
        <p:nvCxnSpPr>
          <p:cNvPr id="250" name="Connector 26"/>
          <p:cNvCxnSpPr/>
          <p:nvPr/>
        </p:nvCxnSpPr>
        <p:spPr>
          <a:xfrm>
            <a:off x="6400800" y="3474720"/>
            <a:ext cx="4206600" cy="1371960"/>
          </a:xfrm>
          <a:prstGeom prst="straightConnector1">
            <a:avLst/>
          </a:prstGeom>
          <a:ln w="44280">
            <a:solidFill>
              <a:srgbClr val="3ad2dc"/>
            </a:solidFill>
            <a:round/>
          </a:ln>
        </p:spPr>
      </p:cxnSp>
      <p:sp>
        <p:nvSpPr>
          <p:cNvPr id="251" name="TextBox 27"/>
          <p:cNvSpPr/>
          <p:nvPr/>
        </p:nvSpPr>
        <p:spPr>
          <a:xfrm>
            <a:off x="1828800" y="5847120"/>
            <a:ext cx="8595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8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روترها بسته‌ها را به سمت مقصد هدایت می‌کنند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2" name="Rectangle 1"/>
          <p:cNvSpPr/>
          <p:nvPr/>
        </p:nvSpPr>
        <p:spPr>
          <a:xfrm>
            <a:off x="10927080" y="384120"/>
            <a:ext cx="658080" cy="63720"/>
          </a:xfrm>
          <a:prstGeom prst="rect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8412480" y="304200"/>
            <a:ext cx="2285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جمع‌بندی</a:t>
            </a:r>
            <a:endParaRPr b="0" lang="en-GB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594360" y="767520"/>
            <a:ext cx="109724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0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پس اینترنت چیست؟</a:t>
            </a:r>
            <a:endParaRPr b="0" lang="en-GB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502920" y="6456600"/>
            <a:ext cx="4568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defTabSz="457200" rtl="1">
              <a:lnSpc>
                <a:spcPct val="100000"/>
              </a:lnSpc>
            </a:pPr>
            <a:r>
              <a:rPr b="0" lang="en-US" sz="10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09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5"/>
          <p:cNvSpPr/>
          <p:nvPr/>
        </p:nvSpPr>
        <p:spPr>
          <a:xfrm>
            <a:off x="1005840" y="1737360"/>
            <a:ext cx="10149480" cy="74952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6"/>
          <p:cNvSpPr/>
          <p:nvPr/>
        </p:nvSpPr>
        <p:spPr>
          <a:xfrm>
            <a:off x="1325880" y="1920240"/>
            <a:ext cx="365400" cy="36540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7315200" y="1941120"/>
            <a:ext cx="32914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7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شبکه‌ها</a:t>
            </a:r>
            <a:endParaRPr b="0" lang="en-GB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1828800" y="1956240"/>
            <a:ext cx="5120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دستگاه‌ها را به هم متصل می‌کنند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9"/>
          <p:cNvSpPr/>
          <p:nvPr/>
        </p:nvSpPr>
        <p:spPr>
          <a:xfrm>
            <a:off x="1005840" y="2724840"/>
            <a:ext cx="10149480" cy="74952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Oval 10"/>
          <p:cNvSpPr/>
          <p:nvPr/>
        </p:nvSpPr>
        <p:spPr>
          <a:xfrm>
            <a:off x="1325880" y="2907720"/>
            <a:ext cx="365400" cy="365400"/>
          </a:xfrm>
          <a:prstGeom prst="ellipse">
            <a:avLst/>
          </a:prstGeom>
          <a:solidFill>
            <a:srgbClr val="4984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7315200" y="2928600"/>
            <a:ext cx="32914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7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زیرساخت فیزیکی</a:t>
            </a:r>
            <a:endParaRPr b="0" lang="en-GB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2"/>
          <p:cNvSpPr/>
          <p:nvPr/>
        </p:nvSpPr>
        <p:spPr>
          <a:xfrm>
            <a:off x="1828800" y="2943720"/>
            <a:ext cx="5120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راه انتقال اطلاعات را فراهم می‌کند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3"/>
          <p:cNvSpPr/>
          <p:nvPr/>
        </p:nvSpPr>
        <p:spPr>
          <a:xfrm>
            <a:off x="1005840" y="3712320"/>
            <a:ext cx="10149480" cy="74952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Oval 14"/>
          <p:cNvSpPr/>
          <p:nvPr/>
        </p:nvSpPr>
        <p:spPr>
          <a:xfrm>
            <a:off x="1325880" y="3895200"/>
            <a:ext cx="365400" cy="365400"/>
          </a:xfrm>
          <a:prstGeom prst="ellipse">
            <a:avLst/>
          </a:prstGeom>
          <a:solidFill>
            <a:srgbClr val="a371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7315200" y="3916080"/>
            <a:ext cx="32914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7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بسته‌های اطلاعاتی</a:t>
            </a:r>
            <a:endParaRPr b="0" lang="en-GB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1828800" y="3931200"/>
            <a:ext cx="5120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داده‌ها را برای انتقال بخش‌بندی می‌کنند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7"/>
          <p:cNvSpPr/>
          <p:nvPr/>
        </p:nvSpPr>
        <p:spPr>
          <a:xfrm>
            <a:off x="1005840" y="4700160"/>
            <a:ext cx="10149480" cy="74952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18"/>
          <p:cNvSpPr/>
          <p:nvPr/>
        </p:nvSpPr>
        <p:spPr>
          <a:xfrm>
            <a:off x="1325880" y="4883040"/>
            <a:ext cx="365400" cy="36540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7315200" y="4903560"/>
            <a:ext cx="32914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17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روترها</a:t>
            </a:r>
            <a:endParaRPr b="0" lang="en-GB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0"/>
          <p:cNvSpPr/>
          <p:nvPr/>
        </p:nvSpPr>
        <p:spPr>
          <a:xfrm>
            <a:off x="1828800" y="4918680"/>
            <a:ext cx="5120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0" lang="fa-IR" sz="15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بسته‌ها را در مسیر مناسب هدایت می‌کنند</a:t>
            </a:r>
            <a:endParaRPr b="0" lang="en-GB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1"/>
          <p:cNvSpPr/>
          <p:nvPr/>
        </p:nvSpPr>
        <p:spPr>
          <a:xfrm>
            <a:off x="1920240" y="5938560"/>
            <a:ext cx="841212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21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اینترنت = مجموعه‌ای از شبکه‌های به‌هم‌پیوسته</a:t>
            </a:r>
            <a:endParaRPr b="0" lang="en-GB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3" name="TextBox 1"/>
          <p:cNvSpPr/>
          <p:nvPr/>
        </p:nvSpPr>
        <p:spPr>
          <a:xfrm>
            <a:off x="5669280" y="1511280"/>
            <a:ext cx="5303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2000" strike="noStrike" u="none">
                <a:solidFill>
                  <a:srgbClr val="3ad2dc"/>
                </a:solidFill>
                <a:effectLst/>
                <a:uFillTx/>
                <a:latin typeface="DejaVu Sans"/>
              </a:rPr>
              <a:t>یک سؤال هنوز باقی مانده…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2743200" y="2410560"/>
            <a:ext cx="8229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r" defTabSz="457200" rtl="1">
              <a:lnSpc>
                <a:spcPct val="100000"/>
              </a:lnSpc>
            </a:pPr>
            <a:r>
              <a:rPr b="1" lang="fa-IR" sz="3400" strike="noStrike" u="none">
                <a:solidFill>
                  <a:srgbClr val="f2f6fc"/>
                </a:solidFill>
                <a:effectLst/>
                <a:uFillTx/>
                <a:latin typeface="DejaVu Sans"/>
              </a:rPr>
              <a:t>وب چه فرقی با اینترنت دارد؟</a:t>
            </a:r>
            <a:endParaRPr b="0" lang="en-GB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3"/>
          <p:cNvSpPr/>
          <p:nvPr/>
        </p:nvSpPr>
        <p:spPr>
          <a:xfrm>
            <a:off x="4389120" y="388620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141f3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ounded Rectangle 4"/>
          <p:cNvSpPr/>
          <p:nvPr/>
        </p:nvSpPr>
        <p:spPr>
          <a:xfrm>
            <a:off x="4617720" y="4114800"/>
            <a:ext cx="2925720" cy="255600"/>
          </a:xfrm>
          <a:prstGeom prst="roundRect">
            <a:avLst>
              <a:gd name="adj" fmla="val 16667"/>
            </a:avLst>
          </a:prstGeom>
          <a:solidFill>
            <a:srgbClr val="1b2b4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Oval 5"/>
          <p:cNvSpPr/>
          <p:nvPr/>
        </p:nvSpPr>
        <p:spPr>
          <a:xfrm>
            <a:off x="4754880" y="4187880"/>
            <a:ext cx="82080" cy="82080"/>
          </a:xfrm>
          <a:prstGeom prst="ellipse">
            <a:avLst/>
          </a:prstGeom>
          <a:solidFill>
            <a:srgbClr val="ffae5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Oval 6"/>
          <p:cNvSpPr/>
          <p:nvPr/>
        </p:nvSpPr>
        <p:spPr>
          <a:xfrm>
            <a:off x="4956120" y="4187880"/>
            <a:ext cx="82080" cy="82080"/>
          </a:xfrm>
          <a:prstGeom prst="ellipse">
            <a:avLst/>
          </a:prstGeom>
          <a:solidFill>
            <a:srgbClr val="3ad2d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Oval 7"/>
          <p:cNvSpPr/>
          <p:nvPr/>
        </p:nvSpPr>
        <p:spPr>
          <a:xfrm>
            <a:off x="5157360" y="4187880"/>
            <a:ext cx="82080" cy="82080"/>
          </a:xfrm>
          <a:prstGeom prst="ellipse">
            <a:avLst/>
          </a:prstGeom>
          <a:solidFill>
            <a:srgbClr val="5dd69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4846320" y="5885280"/>
            <a:ext cx="24685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spAutoFit/>
          </a:bodyPr>
          <a:p>
            <a:pPr algn="ctr" defTabSz="457200" rtl="1">
              <a:lnSpc>
                <a:spcPct val="100000"/>
              </a:lnSpc>
            </a:pPr>
            <a:r>
              <a:rPr b="1" lang="fa-IR" sz="1600" strike="noStrike" u="none">
                <a:solidFill>
                  <a:srgbClr val="9fb1ca"/>
                </a:solidFill>
                <a:effectLst/>
                <a:uFillTx/>
                <a:latin typeface="DejaVu Sans"/>
              </a:rPr>
              <a:t>ادامه دارد…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